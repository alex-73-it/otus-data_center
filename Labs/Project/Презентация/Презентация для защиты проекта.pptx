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3" r:id="rId1"/>
    <p:sldMasterId id="2147483734" r:id="rId2"/>
    <p:sldMasterId id="2147483735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306" r:id="rId11"/>
    <p:sldId id="307" r:id="rId12"/>
    <p:sldId id="263" r:id="rId13"/>
    <p:sldId id="264" r:id="rId14"/>
    <p:sldId id="265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edium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  <p15:guide id="6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F86677-F069-4C29-8C1D-3D470B11A655}">
  <a:tblStyle styleId="{67F86677-F069-4C29-8C1D-3D470B11A6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7"/>
    <p:restoredTop sz="94459"/>
  </p:normalViewPr>
  <p:slideViewPr>
    <p:cSldViewPr snapToGrid="0">
      <p:cViewPr varScale="1">
        <p:scale>
          <a:sx n="265" d="100"/>
          <a:sy n="265" d="100"/>
        </p:scale>
        <p:origin x="1992" y="192"/>
      </p:cViewPr>
      <p:guideLst>
        <p:guide pos="5533"/>
        <p:guide pos="397"/>
        <p:guide orient="horz" pos="3240"/>
        <p:guide orient="horz"/>
        <p:guide orient="horz" pos="510"/>
        <p:guide pos="1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f7d84ce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f7d84ce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" type="title">
  <p:cSld name="TITL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r>
              <a:rPr lang="ru" sz="24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+ картинка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Главная мысль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слайда, тезис, определение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 t="10742" b="10734"/>
          <a:stretch/>
        </p:blipFill>
        <p:spPr>
          <a:xfrm>
            <a:off x="5581050" y="867901"/>
            <a:ext cx="2868000" cy="31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>
            <a:spLocks noGrp="1"/>
          </p:cNvSpPr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-синий">
  <p:cSld name="MAIN_POINT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2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2"/>
          <p:cNvSpPr/>
          <p:nvPr/>
        </p:nvSpPr>
        <p:spPr>
          <a:xfrm>
            <a:off x="433125" y="553500"/>
            <a:ext cx="4161600" cy="415500"/>
          </a:xfrm>
          <a:prstGeom prst="roundRect">
            <a:avLst>
              <a:gd name="adj" fmla="val 16667"/>
            </a:avLst>
          </a:prstGeom>
          <a:solidFill>
            <a:srgbClr val="740FB4"/>
          </a:solidFill>
          <a:ln>
            <a:noFill/>
          </a:ln>
          <a:effectLst>
            <a:outerShdw blurRad="200025" dist="28575" dir="5400000" algn="bl" rotWithShape="0">
              <a:srgbClr val="000000">
                <a:alpha val="2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92"/>
          <p:cNvSpPr txBox="1"/>
          <p:nvPr/>
        </p:nvSpPr>
        <p:spPr>
          <a:xfrm>
            <a:off x="0" y="1091629"/>
            <a:ext cx="7584300" cy="333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Построение географически распределенной сети </a:t>
            </a:r>
            <a:r>
              <a:rPr lang="en" sz="41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EVPN </a:t>
            </a:r>
            <a:r>
              <a:rPr lang="ru-RU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между ЦОД с использованием технологии </a:t>
            </a:r>
            <a:r>
              <a:rPr lang="en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Multi-POD</a:t>
            </a:r>
          </a:p>
        </p:txBody>
      </p:sp>
      <p:sp>
        <p:nvSpPr>
          <p:cNvPr id="375" name="Google Shape;375;p92"/>
          <p:cNvSpPr txBox="1"/>
          <p:nvPr/>
        </p:nvSpPr>
        <p:spPr>
          <a:xfrm>
            <a:off x="572150" y="553500"/>
            <a:ext cx="4341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</a:p>
        </p:txBody>
      </p:sp>
      <p:pic>
        <p:nvPicPr>
          <p:cNvPr id="376" name="Google Shape;37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8125" y="2113144"/>
            <a:ext cx="1787901" cy="28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3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383" name="Google Shape;38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4"/>
          <p:cNvSpPr txBox="1">
            <a:spLocks noGrp="1"/>
          </p:cNvSpPr>
          <p:nvPr>
            <p:ph type="title"/>
          </p:nvPr>
        </p:nvSpPr>
        <p:spPr>
          <a:xfrm>
            <a:off x="311700" y="179587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ru-RU" sz="3000" dirty="0"/>
              <a:t>Построение географически распределенной сети </a:t>
            </a:r>
            <a:r>
              <a:rPr lang="en" sz="3000" dirty="0" err="1"/>
              <a:t>VxLAN</a:t>
            </a:r>
            <a:r>
              <a:rPr lang="en" sz="3000" dirty="0"/>
              <a:t> EVPN </a:t>
            </a:r>
            <a:r>
              <a:rPr lang="ru-RU" sz="3000" dirty="0"/>
              <a:t>между ЦОД с использованием технологии </a:t>
            </a:r>
            <a:r>
              <a:rPr lang="en" sz="3000" dirty="0"/>
              <a:t>Multi-POD</a:t>
            </a:r>
            <a:br>
              <a:rPr lang="en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94"/>
          <p:cNvSpPr txBox="1"/>
          <p:nvPr/>
        </p:nvSpPr>
        <p:spPr>
          <a:xfrm>
            <a:off x="3899475" y="2746326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Якунин</a:t>
            </a:r>
            <a:r>
              <a:rPr lang="ru-RU" sz="23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 Алексей</a:t>
            </a:r>
            <a:endParaRPr sz="23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94"/>
          <p:cNvSpPr txBox="1"/>
          <p:nvPr/>
        </p:nvSpPr>
        <p:spPr>
          <a:xfrm>
            <a:off x="3899475" y="3122213"/>
            <a:ext cx="53373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Сокращён, но не сломлен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6EC61F-71D4-45C3-B708-368D8D74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5" y="2158963"/>
            <a:ext cx="2006600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5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398" name="Google Shape;398;p95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95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95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95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" name="Google Shape;402;p95"/>
          <p:cNvCxnSpPr>
            <a:stCxn id="398" idx="1"/>
            <a:endCxn id="399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95"/>
          <p:cNvCxnSpPr>
            <a:stCxn id="399" idx="1"/>
            <a:endCxn id="400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95"/>
          <p:cNvCxnSpPr>
            <a:stCxn id="400" idx="1"/>
            <a:endCxn id="401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5"/>
          <p:cNvCxnSpPr>
            <a:stCxn id="401" idx="1"/>
            <a:endCxn id="406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6" name="Google Shape;406;p95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6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2" name="Google Shape;412;p96"/>
          <p:cNvGraphicFramePr/>
          <p:nvPr>
            <p:extLst>
              <p:ext uri="{D42A27DB-BD31-4B8C-83A1-F6EECF244321}">
                <p14:modId xmlns:p14="http://schemas.microsoft.com/office/powerpoint/2010/main" val="3050558884"/>
              </p:ext>
            </p:extLst>
          </p:nvPr>
        </p:nvGraphicFramePr>
        <p:xfrm>
          <a:off x="870686" y="1722794"/>
          <a:ext cx="7259663" cy="32128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sym typeface="Roboto"/>
                        </a:rPr>
                        <a:t>Спроектировать сеть с использованием топологии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sym typeface="Roboto"/>
                        </a:rPr>
                        <a:t>CLOS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Распределить адресное пространство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sym typeface="Roboto"/>
                        </a:rPr>
                        <a:t>Подобрать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sym typeface="Roboto"/>
                        </a:rPr>
                        <a:t>undelay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sym typeface="Roboto"/>
                        </a:rPr>
                        <a:t> и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sym typeface="Roboto"/>
                        </a:rPr>
                        <a:t>ov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sym typeface="Roboto"/>
                        </a:rPr>
                        <a:t>erlay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sym typeface="Roboto"/>
                        </a:rPr>
                        <a:t>протоколы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sym typeface="Roboto"/>
                        </a:rPr>
                        <a:t>Реализовать отказоустойчивость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rgbClr val="9857F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5.</a:t>
                      </a: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Организовать изоляцию сервисов и клиентов</a:t>
                      </a: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rgbClr val="9857F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6.</a:t>
                      </a: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Соединить два ЦОДа по технологии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Multi-POD</a:t>
                      </a:r>
                      <a:endParaRPr lang="ru-RU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Roboto"/>
                      </a:endParaRP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34882227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9857F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7.</a:t>
                      </a:r>
                      <a:endParaRPr lang="ru-RU" sz="1600" b="1" i="0" u="none" strike="noStrike" cap="none" dirty="0">
                        <a:solidFill>
                          <a:srgbClr val="9857F3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8000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Roboto"/>
                        </a:rPr>
                        <a:t>Обеспечить внешние подключения и связанность между клиентами при необходимости</a:t>
                      </a:r>
                    </a:p>
                  </a:txBody>
                  <a:tcPr marL="198000" marR="91425" marT="91425" marB="91425"/>
                </a:tc>
                <a:extLst>
                  <a:ext uri="{0D108BD9-81ED-4DB2-BD59-A6C34878D82A}">
                    <a16:rowId xmlns:a16="http://schemas.microsoft.com/office/drawing/2014/main" val="1307765305"/>
                  </a:ext>
                </a:extLst>
              </a:tr>
            </a:tbl>
          </a:graphicData>
        </a:graphic>
      </p:graphicFrame>
      <p:sp>
        <p:nvSpPr>
          <p:cNvPr id="413" name="Google Shape;413;p96"/>
          <p:cNvSpPr/>
          <p:nvPr/>
        </p:nvSpPr>
        <p:spPr>
          <a:xfrm>
            <a:off x="1628250" y="968981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разработать архитектуру сети двух ЦОД и объединить их с использованием технологии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Multi-POD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425" name="Google Shape;425;p97"/>
          <p:cNvGraphicFramePr/>
          <p:nvPr>
            <p:extLst>
              <p:ext uri="{D42A27DB-BD31-4B8C-83A1-F6EECF244321}">
                <p14:modId xmlns:p14="http://schemas.microsoft.com/office/powerpoint/2010/main" val="378201994"/>
              </p:ext>
            </p:extLst>
          </p:nvPr>
        </p:nvGraphicFramePr>
        <p:xfrm>
          <a:off x="952500" y="1897775"/>
          <a:ext cx="7239000" cy="2219810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OSPF, MP-eBGP, ECMP, VXLAN/EVPN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LACP, VPC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i="0" u="none" strike="noStrike" cap="none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i="0" u="none" strike="noStrike" cap="none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L2VNI, L3VNI, VRF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"/>
          <p:cNvSpPr txBox="1">
            <a:spLocks noGrp="1"/>
          </p:cNvSpPr>
          <p:nvPr>
            <p:ph type="title"/>
          </p:nvPr>
        </p:nvSpPr>
        <p:spPr>
          <a:xfrm>
            <a:off x="3112632" y="224709"/>
            <a:ext cx="2918733" cy="6318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Схема проекта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4378A0-7FF3-CDC9-7BC5-4392487F5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904638"/>
            <a:ext cx="7772400" cy="3464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2EB9A-E08D-CD73-210E-FA980431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Описание проекта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04EE4A-F76A-9588-4CF0-6F74EAD93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98145"/>
            <a:ext cx="8520600" cy="3416400"/>
          </a:xfrm>
        </p:spPr>
        <p:txBody>
          <a:bodyPr/>
          <a:lstStyle/>
          <a:p>
            <a:r>
              <a:rPr lang="en-US" dirty="0"/>
              <a:t>Underlay: OSPF </a:t>
            </a:r>
          </a:p>
          <a:p>
            <a:r>
              <a:rPr lang="en-US" dirty="0"/>
              <a:t>Overlay: VXLAN/EVPN </a:t>
            </a:r>
          </a:p>
          <a:p>
            <a:r>
              <a:rPr lang="en-US" dirty="0"/>
              <a:t>L2VNI: 10011 (vlan11), 10022 (vlan22), 10044 (vlan44)</a:t>
            </a:r>
          </a:p>
          <a:p>
            <a:r>
              <a:rPr lang="en-US" dirty="0"/>
              <a:t>L3VNI: 10100 (</a:t>
            </a:r>
            <a:r>
              <a:rPr lang="en" dirty="0"/>
              <a:t>VRF</a:t>
            </a:r>
            <a:r>
              <a:rPr lang="ru-RU" dirty="0"/>
              <a:t> </a:t>
            </a:r>
            <a:r>
              <a:rPr lang="en-US" dirty="0"/>
              <a:t>l3vni), 10110 (</a:t>
            </a:r>
            <a:r>
              <a:rPr lang="en" dirty="0"/>
              <a:t>VRF</a:t>
            </a:r>
            <a:r>
              <a:rPr lang="ru-RU" dirty="0"/>
              <a:t> </a:t>
            </a:r>
            <a:r>
              <a:rPr lang="en-US" dirty="0"/>
              <a:t>tenant-1)</a:t>
            </a:r>
          </a:p>
          <a:p>
            <a:r>
              <a:rPr lang="ru-RU" dirty="0"/>
              <a:t>Отказоустойчивость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dirty="0" err="1"/>
              <a:t>vPC</a:t>
            </a:r>
            <a:endParaRPr lang="en-US" dirty="0"/>
          </a:p>
          <a:p>
            <a:r>
              <a:rPr lang="ru-RU" dirty="0"/>
              <a:t>Соединение </a:t>
            </a:r>
            <a:r>
              <a:rPr lang="en-US" dirty="0"/>
              <a:t>Multi-POD </a:t>
            </a:r>
            <a:r>
              <a:rPr lang="ru-RU" dirty="0"/>
              <a:t>через </a:t>
            </a:r>
            <a:r>
              <a:rPr lang="en-US" dirty="0"/>
              <a:t>Super Spine </a:t>
            </a:r>
            <a:r>
              <a:rPr lang="ru-RU" dirty="0"/>
              <a:t>для масштабируемости</a:t>
            </a:r>
          </a:p>
          <a:p>
            <a:r>
              <a:rPr lang="ru-RU" dirty="0"/>
              <a:t>Пограничное устройство имитирует </a:t>
            </a:r>
            <a:r>
              <a:rPr lang="en-US" dirty="0"/>
              <a:t>Host_0</a:t>
            </a:r>
            <a:r>
              <a:rPr lang="ru-RU" dirty="0"/>
              <a:t>, подключённое через </a:t>
            </a:r>
            <a:r>
              <a:rPr lang="en-US" dirty="0" err="1"/>
              <a:t>vPC</a:t>
            </a:r>
            <a:r>
              <a:rPr lang="ru-RU" dirty="0"/>
              <a:t>, пиринг через </a:t>
            </a:r>
            <a:r>
              <a:rPr lang="en-US" dirty="0"/>
              <a:t>SVI </a:t>
            </a:r>
            <a:r>
              <a:rPr lang="ru-RU" dirty="0"/>
              <a:t>благодаря функции </a:t>
            </a:r>
            <a:r>
              <a:rPr lang="en-US" dirty="0"/>
              <a:t>Nexus </a:t>
            </a:r>
            <a:r>
              <a:rPr lang="ru-RU" dirty="0"/>
              <a:t>«</a:t>
            </a:r>
            <a:r>
              <a:rPr lang="en-US" dirty="0"/>
              <a:t>layer3 peer-router</a:t>
            </a:r>
            <a:r>
              <a:rPr lang="ru-RU" dirty="0"/>
              <a:t>», и хотя </a:t>
            </a:r>
            <a:r>
              <a:rPr lang="ru-RU" dirty="0" err="1"/>
              <a:t>cis</a:t>
            </a:r>
            <a:r>
              <a:rPr lang="en-US" dirty="0"/>
              <a:t>co </a:t>
            </a:r>
            <a:r>
              <a:rPr lang="ru-RU" dirty="0"/>
              <a:t>советует отдельные </a:t>
            </a:r>
            <a:r>
              <a:rPr lang="en-US" dirty="0"/>
              <a:t>L3 </a:t>
            </a:r>
            <a:r>
              <a:rPr lang="ru-RU" dirty="0"/>
              <a:t>линки, но на практике чаще бывает либо </a:t>
            </a:r>
            <a:r>
              <a:rPr lang="en-US" dirty="0"/>
              <a:t>SVI</a:t>
            </a:r>
            <a:r>
              <a:rPr lang="ru-RU" dirty="0"/>
              <a:t>, либо </a:t>
            </a:r>
            <a:r>
              <a:rPr lang="en-US" dirty="0" err="1"/>
              <a:t>subinterface</a:t>
            </a:r>
            <a:endParaRPr lang="en-US" dirty="0"/>
          </a:p>
          <a:p>
            <a:r>
              <a:rPr lang="ru-RU" dirty="0"/>
              <a:t>Взаимодействие клиентов через </a:t>
            </a:r>
            <a:r>
              <a:rPr lang="en-US" dirty="0"/>
              <a:t>VRF option A (</a:t>
            </a:r>
            <a:r>
              <a:rPr lang="ru-RU" dirty="0"/>
              <a:t>и не надо обзывать его </a:t>
            </a:r>
            <a:r>
              <a:rPr lang="en-US" dirty="0"/>
              <a:t>VRF lite)</a:t>
            </a: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02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0B57B-67EE-22BF-AADF-C429FF3B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Что получилось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3EA19-4216-BFB2-0039-66C11AE60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Получилось смоделировать</a:t>
            </a:r>
            <a:r>
              <a:rPr lang="en-US" dirty="0"/>
              <a:t> </a:t>
            </a:r>
            <a:r>
              <a:rPr lang="ru-RU" dirty="0"/>
              <a:t>два ЦОДа, соединенных через </a:t>
            </a:r>
            <a:r>
              <a:rPr lang="en-US" dirty="0"/>
              <a:t>Multi-POD</a:t>
            </a:r>
            <a:r>
              <a:rPr lang="ru-RU" dirty="0"/>
              <a:t>, с примерами различных технологий для дальнейшей реализации пилота на физическом оборудовании с использованием готовой конфигурации</a:t>
            </a:r>
          </a:p>
        </p:txBody>
      </p:sp>
    </p:spTree>
    <p:extLst>
      <p:ext uri="{BB962C8B-B14F-4D97-AF65-F5344CB8AC3E}">
        <p14:creationId xmlns:p14="http://schemas.microsoft.com/office/powerpoint/2010/main" val="324674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439" name="Google Shape;439;p99"/>
          <p:cNvGraphicFramePr/>
          <p:nvPr>
            <p:extLst>
              <p:ext uri="{D42A27DB-BD31-4B8C-83A1-F6EECF244321}">
                <p14:modId xmlns:p14="http://schemas.microsoft.com/office/powerpoint/2010/main" val="1125041346"/>
              </p:ext>
            </p:extLst>
          </p:nvPr>
        </p:nvGraphicFramePr>
        <p:xfrm>
          <a:off x="952500" y="1718400"/>
          <a:ext cx="7239000" cy="2056264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Проанализированы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overlay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</a:t>
                      </a:r>
                      <a:r>
                        <a:rPr lang="ru-RU" sz="16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токолы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Выделены плюсы и минусы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Протестированы варианты реализации отказоустойчивости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Подобрана архитектура сети с учётом дальнейшего развития 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100"/>
          <p:cNvPicPr preferRelativeResize="0"/>
          <p:nvPr/>
        </p:nvPicPr>
        <p:blipFill rotWithShape="1">
          <a:blip r:embed="rId3">
            <a:alphaModFix/>
          </a:blip>
          <a:srcRect l="10873" b="29922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10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10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10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0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1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1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462" name="Google Shape;46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329</Words>
  <Application>Microsoft Macintosh PowerPoint</Application>
  <PresentationFormat>Экран (16:9)</PresentationFormat>
  <Paragraphs>64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Courier New</vt:lpstr>
      <vt:lpstr>Roboto</vt:lpstr>
      <vt:lpstr>Arial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Построение географически распределенной сети VxLAN EVPN между ЦОД с использованием технологии Multi-POD    </vt:lpstr>
      <vt:lpstr>План защиты</vt:lpstr>
      <vt:lpstr>Презентация PowerPoint</vt:lpstr>
      <vt:lpstr>Какие технологии использовались </vt:lpstr>
      <vt:lpstr>Схема проекта</vt:lpstr>
      <vt:lpstr>Описание проекта</vt:lpstr>
      <vt:lpstr>Что получилось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anonim</cp:lastModifiedBy>
  <cp:revision>2</cp:revision>
  <dcterms:modified xsi:type="dcterms:W3CDTF">2026-08-06T19:56:06Z</dcterms:modified>
</cp:coreProperties>
</file>